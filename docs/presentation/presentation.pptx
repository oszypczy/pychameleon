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Outline prezentacji — Etap 1, deadline 08.05.2026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Format:</a:t>
            </a:r>
            <a:r>
              <a:rPr/>
              <a:t> .pptx, 13–15 slajdów, ~15–20 minut prezentacji + Q&amp;A </a:t>
            </a:r>
            <a:r>
              <a:rPr b="1"/>
              <a:t>Cel:</a:t>
            </a:r>
            <a:r>
              <a:rPr/>
              <a:t> przedstawienie projektu implementacji algorytmu CHAMELEON dr. Bembenikowi podczas konsultacji (planowany wt 05.05.2026 16:00–17:45 MS Teams)</a:t>
            </a:r>
          </a:p>
          <a:p>
            <a:pPr lvl="0" indent="0" marL="0">
              <a:buNone/>
            </a:pPr>
            <a:r>
              <a:rPr b="1"/>
              <a:t>Wymagania prowadzącego (PDF, str. 1–2):</a:t>
            </a:r>
            <a:r>
              <a:rPr/>
              <a:t> prezentacja musi obejmować </a:t>
            </a:r>
            <a:r>
              <a:rPr b="1"/>
              <a:t>zakres projektu, wybrane technologie, plany testów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1 — Tytuł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CHAMELEON: hierarchical clustering using dynamic modeling
implementacja w Pythonie + projekt jako pychameleon
Oliwier Szypczyn
Metody Eksploracji Danych, sem. letni 2026
Politechnika Warszawska, EITI
Data: &lt;data konsultacji&gt;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2 — Zakres projektu &gt; wymaganie #1 prezentacji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Algorytm:</a:t>
            </a:r>
            <a:r>
              <a:rPr/>
              <a:t> CHAMELEON (Karypis, Han, Kumar 1999, IEEE Computer 32(8))</a:t>
            </a:r>
          </a:p>
          <a:p>
            <a:pPr lvl="0"/>
            <a:r>
              <a:rPr b="1"/>
              <a:t>Cel akademicki:</a:t>
            </a:r>
            <a:r>
              <a:rPr/>
              <a:t> zaliczenie MED — Etap 1 (08.05) + Etap 2 (02.06), max 45 pkt</a:t>
            </a:r>
          </a:p>
          <a:p>
            <a:pPr lvl="0"/>
            <a:r>
              <a:rPr b="1"/>
              <a:t>Cel długoterminowy:</a:t>
            </a:r>
            <a:r>
              <a:rPr/>
              <a:t> publikacja jako biblioteka </a:t>
            </a:r>
            <a:r>
              <a:rPr b="1">
                <a:latin typeface="Courier"/>
              </a:rPr>
              <a:t>pychameleon</a:t>
            </a:r>
            <a:r>
              <a:rPr/>
              <a:t> na PyPI (lato 2026)</a:t>
            </a:r>
          </a:p>
          <a:p>
            <a:pPr lvl="0"/>
            <a:r>
              <a:rPr b="1"/>
              <a:t>Etap 1 deliverables:</a:t>
            </a:r>
            <a:r>
              <a:rPr/>
              <a:t> dokumentacja projektu + ta prezentacja</a:t>
            </a:r>
          </a:p>
          <a:p>
            <a:pPr lvl="0"/>
            <a:r>
              <a:rPr b="1"/>
              <a:t>Etap 2 deliverables:</a:t>
            </a:r>
            <a:r>
              <a:rPr/>
              <a:t> pełna implementacja, eksperymenty, raport końcowy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3 — Algorytm: motywacja “dynamic modeling”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Klasyczne hierarchiczne (single/complete/average linkage) — </a:t>
            </a:r>
            <a:r>
              <a:rPr b="1"/>
              <a:t>statyczny model</a:t>
            </a:r>
          </a:p>
          <a:p>
            <a:pPr lvl="0"/>
            <a:r>
              <a:rPr/>
              <a:t>CURE (1998), ROCK (1999) — też statyczne, oparte na reprezentantach</a:t>
            </a:r>
          </a:p>
          <a:p>
            <a:pPr lvl="0"/>
            <a:r>
              <a:rPr/>
              <a:t>CHAMELEON: </a:t>
            </a:r>
            <a:r>
              <a:rPr b="1"/>
              <a:t>dynamiczny model</a:t>
            </a:r>
            <a:r>
              <a:rPr/>
              <a:t> — kryterium łączenia uwzględnia </a:t>
            </a:r>
            <a:r>
              <a:rPr b="1"/>
              <a:t>wewnętrzną charakterystykę</a:t>
            </a:r>
            <a:r>
              <a:rPr/>
              <a:t> klastrów (gęstość, interconnectivity)</a:t>
            </a:r>
          </a:p>
          <a:p>
            <a:pPr lvl="0"/>
            <a:r>
              <a:rPr/>
              <a:t>Wynik: poprawna klasteryzacja klastrów o </a:t>
            </a:r>
            <a:r>
              <a:rPr b="1"/>
              <a:t>różnych kształtach, rozmiarach, gęstościach</a:t>
            </a:r>
          </a:p>
          <a:p>
            <a:pPr lvl="0" indent="0" marL="0">
              <a:buNone/>
            </a:pPr>
            <a:r>
              <a:rPr i="1"/>
              <a:t>[diagram: porównanie wyników CHAMELEON vs k-means na zbiorze t4_8k]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4 — Algorytm: dwie fazy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X (punkty, n × d)
              │
              ▼
   Faza 0: graf k-NN  (§4.2)            ──► scipy.spatial.KDTree, O(n log n)
              │
              ▼
   Faza I: rekurencyjna bisekcja        ──► pymetis (METIS multilevel)
   (§4.4 Phase I)                          → m sub-klastrów
              │
              ▼
   Faza II: aglomeracja                 ──► priority queue (heapq)
   (§4.4 Phase II)                         + lazy invalidation
              │
              ▼
       labels_ (n,)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5 — Miary RI/RC/α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Relative Interconnectivity (eq. 1):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t>I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d>
                            <m:dPr>
                              <m:begChr m:val="|"/>
                              <m:sepChr m:val=""/>
                              <m:endChr m:val="|"/>
                              <m:grow/>
                            </m:dPr>
                            <m:e>
                              <m:r>
                                <m:t>E</m:t>
                              </m:r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/>
                                </m:dPr>
                                <m:e>
                                  <m:r>
                                    <m:t>E</m:t>
                                  </m:r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sSub>
                                        <m:e>
                                          <m: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/>
                                </m:dPr>
                                <m:e>
                                  <m:r>
                                    <m:t>E</m:t>
                                  </m:r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sSub>
                                        <m:e>
                                          <m:r>
                                            <m:t>C</m:t>
                                          </m:r>
                                        </m:e>
                                        <m:sub>
                                          <m:r>
                                            <m:t>j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2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Relative Closeness (eq. 2):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t>C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S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</m:num>
                        <m:den>
                          <m:f>
                            <m:fPr>
                              <m:type m:val="bar"/>
                            </m:fPr>
                            <m:num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S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f>
                            <m:fPr>
                              <m:type m:val="bar"/>
                            </m:fPr>
                            <m:num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sSub>
                            <m:e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S</m:t>
                                  </m:r>
                                </m:e>
                              </m:acc>
                            </m:e>
                            <m:sub>
                              <m:r>
                                <m:t>E</m:t>
                              </m:r>
                              <m:sSub>
                                <m:e>
                                  <m:r>
                                    <m:t>C</m:t>
                                  </m:r>
                                </m:e>
                                <m:sub>
                                  <m:sSub>
                                    <m:e>
                                      <m:r>
                                        <m:t>C</m:t>
                                      </m:r>
                                    </m:e>
                                    <m:sub>
                                      <m:r>
                                        <m:t>j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Merge score (eq. 4):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score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R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R</m:t>
                      </m:r>
                      <m:sSup>
                        <m:e>
                          <m:r>
                            <m:t>C</m:t>
                          </m:r>
                        </m:e>
                        <m:sup>
                          <m:r>
                            <m:t>α</m:t>
                          </m:r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α=2.0 (paper) — preferuje closeness; konfigurowalne.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6 — Wybrane technologie: backend &gt; wymaganie #2 prezentacji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/>
                <a:gridCol w="2641600"/>
                <a:gridCol w="4381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Powód wyboru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Język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Python 3.11+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nowoczesne typing, stabilne wheele dla pymetis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k-NN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scipy.spatial.KDTree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O(n log n), built-in dependency sklearn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Bisekcja grafu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pymetis</a:t>
                      </a:r>
                      <a:r>
                        <a:rPr/>
                        <a:t> ≥ 2023.1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bundles METIS C-lib, brak system dep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sklearn API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BaseEstimator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ClusterMixin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konwencja → łatwa adopcja, ścieżka do sklearn-contrib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Walidacja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_parameter_constraints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deklaratywna, spójna ze sklearn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Algebra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numpy</a:t>
                      </a:r>
                      <a:r>
                        <a:rPr/>
                        <a:t> ≥ 1.24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ufuncs, wektoryzacja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7 — Wybrane technologie: tooling &gt; wymaganie #2 prezentacji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100"/>
                <a:gridCol w="2933700"/>
                <a:gridCol w="4368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Narzędzie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Dlaczego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uv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menedżer pakietów + venv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10–100× szybszy od pip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hatchling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 backend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minimalny, nowoczesny, brak setup.py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ruff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linter + formatter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10× szybszy od pylint+flake8+isort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mypy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 checker (strict)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wczesne wykrywanie bugów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pytest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runner + coverage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de facto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pandas</a:t>
                      </a:r>
                      <a:r>
                        <a:rPr/>
                        <a:t>+</a:t>
                      </a:r>
                      <a:r>
                        <a:rPr>
                          <a:latin typeface="Courier"/>
                        </a:rPr>
                        <a:t>seaborn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eksperymenty (Etap 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wykresy n vs runtime, sweep parametrów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8 — Architektura: 5 modułów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0"/>
                <a:gridCol w="1549400"/>
                <a:gridCol w="44196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Sekcja paperu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Odpowiedzialność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graph.py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§4.2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k-NN graph z KDTree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partition.py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§4.4 Phase 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rekurencyjna bisekcja przez pymetis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metrics.py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§4.3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RI, RC, merge_score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merger.py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§4.4 Phase II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aglomeracyjne łączenie z heapq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chameleon.py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§4 całość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klasa estymatora sklearn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[diagram strzałek między modułami — data flow]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9 — Struktury danych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3111500"/>
                <a:gridCol w="3111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Struktura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Reprezentacja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 co tak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Dane wejściowe </a:t>
                      </a:r>
                      <a:r>
                        <a:rPr>
                          <a:latin typeface="Courier"/>
                        </a:rPr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numpy.ndarray (n, d) float64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konwencja sklearn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Graf k-NN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list[ndarray int64]</a:t>
                      </a:r>
                      <a:r>
                        <a:rPr/>
                        <a:t> adjacency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kompat. z pymetis CSR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Wagi krawędzi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list[ndarray float64]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tożsame z adjacency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Etykiety klastrów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ndarray int64</a:t>
                      </a:r>
                      <a:r>
                        <a:rPr/>
                        <a:t> shape (n,)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maski boolean, sklearn convention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Kolejka priorytetowa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heapq</a:t>
                      </a:r>
                      <a:r>
                        <a:rPr/>
                        <a:t> z lazy invalidation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O(log n) update bez rebuild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Cache </a:t>
                      </a:r>
                      <a:r>
                        <a:rPr>
                          <a:latin typeface="Courier"/>
                        </a:rPr>
                        <a:t>\|EC_Cᵢ\|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dict[int, float]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redukcja powtarzanych bisekcji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Slajd 10 — Efektywność: teoria + benchmarki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Teoretyczna złożoność: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O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log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n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log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p>
                            <m:e>
                              <m:r>
                                <m:t>m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log</m:t>
                          </m:r>
                          <m:r>
                            <m:t>m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m</m:t>
                      </m:r>
                      <m:r>
                        <m:rPr>
                          <m:sty m:val="p"/>
                        </m:rPr>
                        <m:t>≈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t>20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Empiryczne benchmarki</a:t>
                </a:r>
                <a:r>
                  <a:rPr/>
                  <a:t> (referencyjna implementacja Moonpuck):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  <a:gridCol w="469900"/>
                <a:gridCol w="673100"/>
                <a:gridCol w="2882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Bottleneck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aggregation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9.95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balanced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smileface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2.08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balanced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t4_8k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674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naiwny O(n²) k-NN dominuje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Spodziewane przyspieszenie naszej implementacji:</a:t>
            </a:r>
            <a:r>
              <a:rPr/>
              <a:t> 50–100× dla n=8000 (z 11 min → ~10s) dzięki KDTree + cache + lazy invalidation.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11 — Plan testów: jednostkowe &gt; wymaganie #3 prezentacji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Każdy z 5 modułów</a:t>
            </a:r>
            <a:r>
              <a:rPr/>
              <a:t> ma osobny plik testowy</a:t>
            </a:r>
          </a:p>
          <a:p>
            <a:pPr lvl="0"/>
            <a:r>
              <a:rPr/>
              <a:t>~25 testów jednostkowych łącznie</a:t>
            </a:r>
          </a:p>
          <a:p>
            <a:pPr lvl="0"/>
            <a:r>
              <a:rPr/>
              <a:t>Wartości RI/RC liczone </a:t>
            </a:r>
            <a:r>
              <a:rPr b="1"/>
              <a:t>ręcznie</a:t>
            </a:r>
            <a:r>
              <a:rPr/>
              <a:t> na grafach 3–5 wierzchołków → fixture’y z oczekiwanymi wartościami</a:t>
            </a:r>
          </a:p>
          <a:p>
            <a:pPr lvl="0"/>
            <a:r>
              <a:rPr>
                <a:latin typeface="Courier"/>
              </a:rPr>
              <a:t>test_graph.py</a:t>
            </a:r>
            <a:r>
              <a:rPr/>
              <a:t>: symetria grafu, no self-loops, weights = 1/dist</a:t>
            </a:r>
          </a:p>
          <a:p>
            <a:pPr lvl="0"/>
            <a:r>
              <a:rPr>
                <a:latin typeface="Courier"/>
              </a:rPr>
              <a:t>test_partition.py</a:t>
            </a:r>
            <a:r>
              <a:rPr/>
              <a:t>: wszystkie punkty przypisane, balans rozmiarów</a:t>
            </a:r>
          </a:p>
          <a:p>
            <a:pPr lvl="0"/>
            <a:r>
              <a:rPr>
                <a:latin typeface="Courier"/>
              </a:rPr>
              <a:t>test_metrics.py</a:t>
            </a:r>
            <a:r>
              <a:rPr/>
              <a:t>: hand-computed RI/RC/score</a:t>
            </a:r>
          </a:p>
          <a:p>
            <a:pPr lvl="0"/>
            <a:r>
              <a:rPr>
                <a:latin typeface="Courier"/>
              </a:rPr>
              <a:t>test_merger.py</a:t>
            </a:r>
            <a:r>
              <a:rPr/>
              <a:t>: zbieżność do </a:t>
            </a:r>
            <a:r>
              <a:rPr>
                <a:latin typeface="Courier"/>
              </a:rPr>
              <a:t>target_k</a:t>
            </a:r>
            <a:r>
              <a:rPr/>
              <a:t>, lazy invalidation correctness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12 — Plan testów: integracyjne i porównawcze &gt; wymaganie #3 prezentacji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End-to-end</a:t>
            </a:r>
            <a:r>
              <a:rPr/>
              <a:t> na 3 datasetach: aggregation → 7 klastrów, smileface → 4, t4_8k → 6</a:t>
            </a:r>
          </a:p>
          <a:p>
            <a:pPr lvl="0"/>
            <a:r>
              <a:rPr b="1"/>
              <a:t>Porównawcze</a:t>
            </a:r>
            <a:r>
              <a:rPr/>
              <a:t> vs Moonpuck: ARI &gt; 0.9 (tolerancja na niedeterminizm pymetis)</a:t>
            </a:r>
          </a:p>
          <a:p>
            <a:pPr lvl="0"/>
            <a:r>
              <a:rPr b="1"/>
              <a:t>sklearn </a:t>
            </a:r>
            <a:r>
              <a:rPr b="1">
                <a:latin typeface="Courier"/>
              </a:rPr>
              <a:t>check_estimator</a:t>
            </a:r>
            <a:r>
              <a:rPr/>
              <a:t> — pełna suite zgodności (~30 testów)</a:t>
            </a:r>
          </a:p>
          <a:p>
            <a:pPr lvl="0"/>
            <a:r>
              <a:rPr b="1"/>
              <a:t>Sweep parametrów:</a:t>
            </a:r>
            <a:r>
              <a:rPr/>
              <a:t> k_nn ∈ {5, 10, 20, 50}; α ∈ {0.5, 1, 2, 3}; min_size ∈ {0.01, 0.025, 0.1}</a:t>
            </a:r>
          </a:p>
          <a:p>
            <a:pPr lvl="0"/>
            <a:r>
              <a:rPr b="1"/>
              <a:t>Skalowalność:</a:t>
            </a:r>
            <a:r>
              <a:rPr/>
              <a:t> n ∈ {100, …, 50000}; sprawdzamy slope wykresu log-log</a:t>
            </a:r>
          </a:p>
          <a:p>
            <a:pPr lvl="0"/>
            <a:r>
              <a:rPr b="1"/>
              <a:t>Coverage:</a:t>
            </a:r>
            <a:r>
              <a:rPr/>
              <a:t> target ≥ 90% linii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13 — Plan czasowy do 02.06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25.04 ────── DZIŚ
        │
        │  Etap 1: dokumentacja + prezentacja
        │
05.05 ────── KONSULTACJA
        │
08.05 ────── DEADLINE Etap 1 (15 pkt)
        │
        │  Etap 2: implementacja modułów
        │   tydz. 1 (09–15.05): graph + partition
        │   tydz. 2 (16–22.05): metrics + merger
        │   tydz. 3 (23–29.05): chameleon e2e + experiments
        │   tydz. 4 (30.05–01.06): finalizacja
        │
02.06 ────── DEADLINE Etap 2 (30 pkt)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14 — Stan obecny — co już mamy &gt; 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/>
            <a:r>
              <a:rPr sz="2000" b="1"/>
              <a:t>Skeleton 5 modułów</a:t>
            </a:r>
            <a:r>
              <a:rPr sz="2000"/>
              <a:t> z kompletnymi sygnaturami i docstringami</a:t>
            </a:r>
          </a:p>
          <a:p>
            <a:pPr lvl="0" indent="0" marL="1270000"/>
            <a:r>
              <a:rPr sz="2000" b="1"/>
              <a:t>12 testów jednostkowych</a:t>
            </a:r>
            <a:r>
              <a:rPr sz="2000"/>
              <a:t> przechodzi (</a:t>
            </a:r>
            <a:r>
              <a:rPr sz="2000">
                <a:latin typeface="Courier"/>
              </a:rPr>
              <a:t>get_params</a:t>
            </a:r>
            <a:r>
              <a:rPr sz="2000"/>
              <a:t>, </a:t>
            </a:r>
            <a:r>
              <a:rPr sz="2000">
                <a:latin typeface="Courier"/>
              </a:rPr>
              <a:t>set_params</a:t>
            </a:r>
            <a:r>
              <a:rPr sz="2000"/>
              <a:t>, </a:t>
            </a:r>
            <a:r>
              <a:rPr sz="2000">
                <a:latin typeface="Courier"/>
              </a:rPr>
              <a:t>clone</a:t>
            </a:r>
            <a:r>
              <a:rPr sz="2000"/>
              <a:t>, walidacja parametrów, …)</a:t>
            </a:r>
          </a:p>
          <a:p>
            <a:pPr lvl="0" indent="0" marL="1270000"/>
            <a:r>
              <a:rPr sz="2000" b="1">
                <a:latin typeface="Courier"/>
              </a:rPr>
              <a:t>pyproject.toml</a:t>
            </a:r>
            <a:r>
              <a:rPr sz="2000"/>
              <a:t> z hatchling/pymetis/sklearn, </a:t>
            </a:r>
            <a:r>
              <a:rPr sz="2000">
                <a:latin typeface="Courier"/>
              </a:rPr>
              <a:t>ruff</a:t>
            </a:r>
            <a:r>
              <a:rPr sz="2000"/>
              <a:t> i </a:t>
            </a:r>
            <a:r>
              <a:rPr sz="2000">
                <a:latin typeface="Courier"/>
              </a:rPr>
              <a:t>mypy --strict</a:t>
            </a:r>
            <a:r>
              <a:rPr sz="2000"/>
              <a:t> clean</a:t>
            </a:r>
          </a:p>
          <a:p>
            <a:pPr lvl="0" indent="0" marL="1270000"/>
            <a:r>
              <a:rPr sz="2000" b="1"/>
              <a:t>3 referencyjne benchmarki</a:t>
            </a:r>
            <a:r>
              <a:rPr sz="2000"/>
              <a:t> (Moonpuck, 788/644/8000 pkt) — zarchiwizowane w </a:t>
            </a:r>
            <a:r>
              <a:rPr sz="2000">
                <a:latin typeface="Courier"/>
              </a:rPr>
              <a:t>benchmarks/reference_moonpuck/</a:t>
            </a:r>
          </a:p>
          <a:p>
            <a:pPr lvl="0" indent="0" marL="1270000"/>
            <a:r>
              <a:rPr sz="2000" b="1">
                <a:latin typeface="Courier"/>
              </a:rPr>
              <a:t>scripts/setup_reference.sh</a:t>
            </a:r>
            <a:r>
              <a:rPr sz="2000"/>
              <a:t> — pełna reprodukowalność implementacji odniesienia</a:t>
            </a:r>
          </a:p>
          <a:p>
            <a:pPr lvl="0" indent="0" marL="0">
              <a:buNone/>
            </a:pPr>
            <a:r>
              <a:rPr i="1"/>
              <a:t>[zrzut ekranu: pytest -v output z 12 zielonymi testami; lub repository tree]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Slajd 15 — Pytania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Dziękuję za uwagę!
Pytania?
Repozytorium: github.com/oszypczy/pychameleon (private, w toku)
Kontakt: oliwier.szypczyn@tenvalleys.com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Wizualizacje do przygotowania (osobno, do </a:t>
            </a:r>
            <a:r>
              <a:rPr>
                <a:latin typeface="Courier"/>
              </a:rPr>
              <a:t>docs/presentation/images/</a:t>
            </a:r>
            <a:r>
              <a:rPr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architecture.png</a:t>
            </a:r>
            <a:r>
              <a:rPr/>
              <a:t> — diagram 5 modułów (mermaid → PNG export)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data_flow.png</a:t>
            </a:r>
            <a:r>
              <a:rPr/>
              <a:t> — diagram strzałek X → Phase 0 → Phase I → Phase II → labels_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comparison_kmeans_chameleon.png</a:t>
            </a:r>
            <a:r>
              <a:rPr/>
              <a:t> — porównanie wyników na t4_8k (jeśli czas)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runtime_bar.png</a:t>
            </a:r>
            <a:r>
              <a:rPr/>
              <a:t> — bar chart 3 datasetów (Moonpuck baseline)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reference_aggregation.png</a:t>
            </a:r>
            <a:r>
              <a:rPr/>
              <a:t>, </a:t>
            </a:r>
            <a:r>
              <a:rPr b="1">
                <a:latin typeface="Courier"/>
              </a:rPr>
              <a:t>reference_smileface.png</a:t>
            </a:r>
            <a:r>
              <a:rPr/>
              <a:t>, </a:t>
            </a:r>
            <a:r>
              <a:rPr b="1">
                <a:latin typeface="Courier"/>
              </a:rPr>
              <a:t>reference_t4_8k.png</a:t>
            </a:r>
            <a:r>
              <a:rPr/>
              <a:t> — bezpośredni reuse z </a:t>
            </a:r>
            <a:r>
              <a:rPr>
                <a:latin typeface="Courier"/>
              </a:rPr>
              <a:t>benchmarks/reference_moonpuck/*/plot.png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Dodatkowe notatki dla prelegenta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Czas:</a:t>
            </a:r>
            <a:r>
              <a:rPr/>
              <a:t> 60–90 sekund na slajd merytoryczny, 120 sekund na slajdy 8/10 (architektura, efektywność)</a:t>
            </a:r>
          </a:p>
          <a:p>
            <a:pPr lvl="0"/>
            <a:r>
              <a:rPr b="1"/>
              <a:t>Pytania spodziewane:</a:t>
            </a:r>
          </a:p>
          <a:p>
            <a:pPr lvl="1"/>
            <a:r>
              <a:rPr/>
              <a:t>“Dlaczego pymetis a nie własny min-cut?” → wielopoziomowy METIS to SOTA, użyty też w paperu Karypis 1999</a:t>
            </a:r>
          </a:p>
          <a:p>
            <a:pPr lvl="1"/>
            <a:r>
              <a:rPr/>
              <a:t>“Skąd ARI &gt; 0.9 jako próg?” → niedeterminizm pymetis; eksperyment empiryczny pokaże faktyczny rozrzut</a:t>
            </a:r>
          </a:p>
          <a:p>
            <a:pPr lvl="1"/>
            <a:r>
              <a:rPr/>
              <a:t>“Czy planujemy obsługę szumu?” → nie w v0.1 (zgodność z paperu); rozważane v0.2</a:t>
            </a:r>
          </a:p>
          <a:p>
            <a:pPr lvl="1"/>
            <a:r>
              <a:rPr/>
              <a:t>“Dlaczego nie sklearn </a:t>
            </a:r>
            <a:r>
              <a:rPr>
                <a:latin typeface="Courier"/>
              </a:rPr>
              <a:t>AgglomerativeClustering</a:t>
            </a:r>
            <a:r>
              <a:rPr/>
              <a:t>?” → sklearn nie ma dynamic modeling, tylko statyczne linkage</a:t>
            </a:r>
          </a:p>
          <a:p>
            <a:pPr lvl="1"/>
            <a:r>
              <a:rPr/>
              <a:t>“Jak skaluje się dla d &gt; 10?” → KDTree słabnie; v0.3 z Annoy/HNSW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2026-04-26T10:21:21Z</dcterms:created>
  <dcterms:modified xsi:type="dcterms:W3CDTF">2026-04-26T10:21:21Z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